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71" r:id="rId3"/>
    <p:sldId id="272" r:id="rId4"/>
    <p:sldId id="273" r:id="rId5"/>
    <p:sldId id="286" r:id="rId6"/>
    <p:sldId id="283" r:id="rId7"/>
    <p:sldId id="284" r:id="rId8"/>
    <p:sldId id="287" r:id="rId9"/>
    <p:sldId id="285" r:id="rId10"/>
    <p:sldId id="282" r:id="rId11"/>
    <p:sldId id="274" r:id="rId12"/>
    <p:sldId id="275" r:id="rId13"/>
    <p:sldId id="276" r:id="rId14"/>
    <p:sldId id="288" r:id="rId15"/>
    <p:sldId id="277" r:id="rId16"/>
    <p:sldId id="289" r:id="rId17"/>
    <p:sldId id="290" r:id="rId18"/>
    <p:sldId id="291" r:id="rId19"/>
    <p:sldId id="292" r:id="rId20"/>
    <p:sldId id="293" r:id="rId21"/>
    <p:sldId id="279" r:id="rId22"/>
    <p:sldId id="280" r:id="rId23"/>
    <p:sldId id="28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904292-B444-4B8E-B447-BD5443378C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336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983125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904292-B444-4B8E-B447-BD5443378C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192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C67FB0-F4E9-4022-8262-19CB5F4F9B90}"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3618121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C67FB0-F4E9-4022-8262-19CB5F4F9B90}"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1943169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C67FB0-F4E9-4022-8262-19CB5F4F9B90}"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29480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4C67FB0-F4E9-4022-8262-19CB5F4F9B90}"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2677113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4C67FB0-F4E9-4022-8262-19CB5F4F9B90}" type="datetimeFigureOut">
              <a:rPr lang="en-US" smtClean="0"/>
              <a:t>12/17/2025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904292-B444-4B8E-B447-BD5443378C53}" type="slidenum">
              <a:rPr lang="en-US" smtClean="0"/>
              <a:t>‹#›</a:t>
            </a:fld>
            <a:endParaRPr lang="en-US"/>
          </a:p>
        </p:txBody>
      </p:sp>
    </p:spTree>
    <p:extLst>
      <p:ext uri="{BB962C8B-B14F-4D97-AF65-F5344CB8AC3E}">
        <p14:creationId xmlns:p14="http://schemas.microsoft.com/office/powerpoint/2010/main" val="2295185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C67FB0-F4E9-4022-8262-19CB5F4F9B90}"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1169857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3548302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904292-B444-4B8E-B447-BD5443378C53}" type="slidenum">
              <a:rPr lang="en-US" smtClean="0"/>
              <a:t>‹#›</a:t>
            </a:fld>
            <a:endParaRPr lang="en-US"/>
          </a:p>
        </p:txBody>
      </p:sp>
    </p:spTree>
    <p:extLst>
      <p:ext uri="{BB962C8B-B14F-4D97-AF65-F5344CB8AC3E}">
        <p14:creationId xmlns:p14="http://schemas.microsoft.com/office/powerpoint/2010/main" val="421333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45B509-446D-93F4-0795-CF8D9B34558E}"/>
              </a:ext>
            </a:extLst>
          </p:cNvPr>
          <p:cNvSpPr>
            <a:spLocks noGrp="1"/>
          </p:cNvSpPr>
          <p:nvPr>
            <p:ph type="dt" sz="half" idx="10"/>
          </p:nvPr>
        </p:nvSpPr>
        <p:spPr/>
        <p:txBody>
          <a:bodyPr/>
          <a:lstStyle/>
          <a:p>
            <a:fld id="{74C67FB0-F4E9-4022-8262-19CB5F4F9B90}" type="datetimeFigureOut">
              <a:rPr lang="en-US" smtClean="0"/>
              <a:t>12/17/2025</a:t>
            </a:fld>
            <a:endParaRPr lang="en-US"/>
          </a:p>
        </p:txBody>
      </p:sp>
      <p:sp>
        <p:nvSpPr>
          <p:cNvPr id="5" name="Footer Placeholder 4">
            <a:extLst>
              <a:ext uri="{FF2B5EF4-FFF2-40B4-BE49-F238E27FC236}">
                <a16:creationId xmlns:a16="http://schemas.microsoft.com/office/drawing/2014/main" id="{DF6C4E74-1C71-3123-EFB3-D11501370A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E8DC7B-D9DF-ABEF-1C9D-6D68F36613A9}"/>
              </a:ext>
            </a:extLst>
          </p:cNvPr>
          <p:cNvSpPr>
            <a:spLocks noGrp="1"/>
          </p:cNvSpPr>
          <p:nvPr>
            <p:ph type="sldNum" sz="quarter" idx="12"/>
          </p:nvPr>
        </p:nvSpPr>
        <p:spPr/>
        <p:txBody>
          <a:bodyPr/>
          <a:lstStyle/>
          <a:p>
            <a:fld id="{B6904292-B444-4B8E-B447-BD5443378C53}" type="slidenum">
              <a:rPr lang="en-US" smtClean="0"/>
              <a:t>‹#›</a:t>
            </a:fld>
            <a:endParaRPr lang="en-US"/>
          </a:p>
        </p:txBody>
      </p:sp>
      <p:sp>
        <p:nvSpPr>
          <p:cNvPr id="7" name="TextBox 6">
            <a:extLst>
              <a:ext uri="{FF2B5EF4-FFF2-40B4-BE49-F238E27FC236}">
                <a16:creationId xmlns:a16="http://schemas.microsoft.com/office/drawing/2014/main" id="{54CA853A-6F0A-3A72-7D7B-419489DAFB70}"/>
              </a:ext>
            </a:extLst>
          </p:cNvPr>
          <p:cNvSpPr txBox="1"/>
          <p:nvPr userDrawn="1"/>
        </p:nvSpPr>
        <p:spPr>
          <a:xfrm>
            <a:off x="10087898" y="6176963"/>
            <a:ext cx="1573160" cy="707886"/>
          </a:xfrm>
          <a:prstGeom prst="rect">
            <a:avLst/>
          </a:prstGeom>
          <a:noFill/>
          <a:ln>
            <a:noFill/>
          </a:ln>
        </p:spPr>
        <p:txBody>
          <a:bodyPr wrap="square" rtlCol="0">
            <a:spAutoFit/>
          </a:bodyPr>
          <a:lstStyle/>
          <a:p>
            <a:r>
              <a:rPr lang="en-GB" sz="4000" dirty="0">
                <a:solidFill>
                  <a:schemeClr val="accent5">
                    <a:lumMod val="50000"/>
                  </a:schemeClr>
                </a:solidFill>
                <a:latin typeface="Baguet Script" panose="020F0502020204030204" pitchFamily="2" charset="0"/>
              </a:rPr>
              <a:t>MEX</a:t>
            </a:r>
            <a:endParaRPr lang="en-US" sz="4000" dirty="0">
              <a:solidFill>
                <a:schemeClr val="accent5">
                  <a:lumMod val="50000"/>
                </a:schemeClr>
              </a:solidFill>
              <a:latin typeface="Baguet Script" panose="020F0502020204030204" pitchFamily="2" charset="0"/>
            </a:endParaRPr>
          </a:p>
        </p:txBody>
      </p:sp>
      <p:cxnSp>
        <p:nvCxnSpPr>
          <p:cNvPr id="10" name="Straight Connector 9">
            <a:extLst>
              <a:ext uri="{FF2B5EF4-FFF2-40B4-BE49-F238E27FC236}">
                <a16:creationId xmlns:a16="http://schemas.microsoft.com/office/drawing/2014/main" id="{B31638C7-8FC7-553C-7CE8-7CD3CE69AFA3}"/>
              </a:ext>
            </a:extLst>
          </p:cNvPr>
          <p:cNvCxnSpPr/>
          <p:nvPr userDrawn="1"/>
        </p:nvCxnSpPr>
        <p:spPr>
          <a:xfrm>
            <a:off x="838200" y="1690688"/>
            <a:ext cx="10515600" cy="0"/>
          </a:xfrm>
          <a:prstGeom prst="line">
            <a:avLst/>
          </a:prstGeom>
          <a:ln w="28575">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103B8B3-A55A-E0D8-34E1-04AC1DDDC687}"/>
              </a:ext>
            </a:extLst>
          </p:cNvPr>
          <p:cNvCxnSpPr/>
          <p:nvPr userDrawn="1"/>
        </p:nvCxnSpPr>
        <p:spPr>
          <a:xfrm>
            <a:off x="838200" y="6176963"/>
            <a:ext cx="10515600" cy="0"/>
          </a:xfrm>
          <a:prstGeom prst="line">
            <a:avLst/>
          </a:prstGeom>
          <a:ln w="28575">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180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4C67FB0-F4E9-4022-8262-19CB5F4F9B90}" type="datetimeFigureOut">
              <a:rPr lang="en-US" smtClean="0"/>
              <a:t>12/17/2025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6904292-B444-4B8E-B447-BD5443378C5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27122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09"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549EB89-5BFB-4E1E-AEEA-87C343D805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3" name="Picture 2" descr="A blue medical building with a cross&#10;&#10;AI-generated content may be incorrect.">
            <a:extLst>
              <a:ext uri="{FF2B5EF4-FFF2-40B4-BE49-F238E27FC236}">
                <a16:creationId xmlns:a16="http://schemas.microsoft.com/office/drawing/2014/main" id="{FCCA00C3-6D87-52C8-EEAE-3FABCD740F80}"/>
              </a:ext>
            </a:extLst>
          </p:cNvPr>
          <p:cNvPicPr>
            <a:picLocks noChangeAspect="1"/>
          </p:cNvPicPr>
          <p:nvPr/>
        </p:nvPicPr>
        <p:blipFill>
          <a:blip r:embed="rId3"/>
          <a:srcRect t="11120" r="1" b="1"/>
          <a:stretch>
            <a:fillRect/>
          </a:stretch>
        </p:blipFill>
        <p:spPr>
          <a:xfrm>
            <a:off x="633999" y="640080"/>
            <a:ext cx="6275667" cy="5577840"/>
          </a:xfrm>
          <a:prstGeom prst="rect">
            <a:avLst/>
          </a:prstGeom>
        </p:spPr>
      </p:pic>
      <p:sp>
        <p:nvSpPr>
          <p:cNvPr id="18" name="Rectangle 17">
            <a:extLst>
              <a:ext uri="{FF2B5EF4-FFF2-40B4-BE49-F238E27FC236}">
                <a16:creationId xmlns:a16="http://schemas.microsoft.com/office/drawing/2014/main" id="{3D1FA295-BDF6-44B9-90C5-FE3E2CE352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604C6E9B-5C2A-7282-59D4-DF42AE5B5771}"/>
              </a:ext>
            </a:extLst>
          </p:cNvPr>
          <p:cNvSpPr txBox="1"/>
          <p:nvPr/>
        </p:nvSpPr>
        <p:spPr>
          <a:xfrm>
            <a:off x="7705607" y="2831659"/>
            <a:ext cx="4349825" cy="2926080"/>
          </a:xfrm>
          <a:prstGeom prst="rect">
            <a:avLst/>
          </a:prstGeom>
        </p:spPr>
        <p:txBody>
          <a:bodyPr vert="horz" lIns="91440" tIns="45720" rIns="91440" bIns="45720" rtlCol="0" anchor="b">
            <a:noAutofit/>
          </a:bodyPr>
          <a:lstStyle/>
          <a:p>
            <a:pPr defTabSz="914400">
              <a:lnSpc>
                <a:spcPct val="170000"/>
              </a:lnSpc>
              <a:spcBef>
                <a:spcPct val="0"/>
              </a:spcBef>
              <a:spcAft>
                <a:spcPts val="600"/>
              </a:spcAft>
            </a:pPr>
            <a:r>
              <a:rPr lang="en-US" sz="4000" b="1" spc="-50" dirty="0">
                <a:latin typeface="Arial Black" panose="020B0A04020102020204" pitchFamily="34" charset="0"/>
                <a:ea typeface="+mj-ea"/>
                <a:cs typeface="+mj-cs"/>
              </a:rPr>
              <a:t>MERIT HOSPITAL MANAGEMENT REPORT ANALYSIS </a:t>
            </a:r>
          </a:p>
        </p:txBody>
      </p:sp>
      <p:sp>
        <p:nvSpPr>
          <p:cNvPr id="2" name="TextBox 1">
            <a:extLst>
              <a:ext uri="{FF2B5EF4-FFF2-40B4-BE49-F238E27FC236}">
                <a16:creationId xmlns:a16="http://schemas.microsoft.com/office/drawing/2014/main" id="{EC2656BF-FE2B-7871-E5B8-40659CFC7A79}"/>
              </a:ext>
            </a:extLst>
          </p:cNvPr>
          <p:cNvSpPr txBox="1"/>
          <p:nvPr/>
        </p:nvSpPr>
        <p:spPr>
          <a:xfrm>
            <a:off x="9589332" y="6465896"/>
            <a:ext cx="3461116" cy="628156"/>
          </a:xfrm>
          <a:prstGeom prst="rect">
            <a:avLst/>
          </a:prstGeom>
        </p:spPr>
        <p:txBody>
          <a:bodyPr vert="horz" lIns="91440" tIns="45720" rIns="91440" bIns="45720" rtlCol="0">
            <a:normAutofit/>
          </a:bodyPr>
          <a:lstStyle/>
          <a:p>
            <a:pPr marR="0" defTabSz="914400">
              <a:lnSpc>
                <a:spcPct val="90000"/>
              </a:lnSpc>
              <a:spcBef>
                <a:spcPts val="1200"/>
              </a:spcBef>
              <a:spcAft>
                <a:spcPts val="200"/>
              </a:spcAft>
              <a:buClr>
                <a:schemeClr val="accent1"/>
              </a:buClr>
              <a:buSzPct val="100000"/>
            </a:pPr>
            <a:r>
              <a:rPr lang="en-US" sz="1500" i="1" cap="all" spc="200" dirty="0">
                <a:solidFill>
                  <a:srgbClr val="FFFFFF"/>
                </a:solidFill>
                <a:effectLst/>
                <a:latin typeface="+mj-lt"/>
              </a:rPr>
              <a:t>Monsurat Surajudeen </a:t>
            </a:r>
          </a:p>
        </p:txBody>
      </p:sp>
      <p:sp>
        <p:nvSpPr>
          <p:cNvPr id="19" name="Rectangle 18">
            <a:extLst>
              <a:ext uri="{FF2B5EF4-FFF2-40B4-BE49-F238E27FC236}">
                <a16:creationId xmlns:a16="http://schemas.microsoft.com/office/drawing/2014/main" id="{81A36F1F-EEAE-48D1-A1FB-BD6FC8506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73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8C8551-C849-F46E-BD7E-5158F6E0EA4F}"/>
              </a:ext>
            </a:extLst>
          </p:cNvPr>
          <p:cNvSpPr txBox="1"/>
          <p:nvPr/>
        </p:nvSpPr>
        <p:spPr>
          <a:xfrm>
            <a:off x="1017870" y="1217148"/>
            <a:ext cx="2273129" cy="523220"/>
          </a:xfrm>
          <a:prstGeom prst="rect">
            <a:avLst/>
          </a:prstGeom>
          <a:noFill/>
        </p:spPr>
        <p:txBody>
          <a:bodyPr wrap="square" rtlCol="0">
            <a:spAutoFit/>
          </a:bodyPr>
          <a:lstStyle/>
          <a:p>
            <a:r>
              <a:rPr lang="en-US" sz="2800" b="1" dirty="0"/>
              <a:t>Introduction</a:t>
            </a:r>
          </a:p>
        </p:txBody>
      </p:sp>
      <p:sp>
        <p:nvSpPr>
          <p:cNvPr id="3" name="TextBox 2">
            <a:extLst>
              <a:ext uri="{FF2B5EF4-FFF2-40B4-BE49-F238E27FC236}">
                <a16:creationId xmlns:a16="http://schemas.microsoft.com/office/drawing/2014/main" id="{BA262A87-B8BE-D177-5E39-3B37A912BB15}"/>
              </a:ext>
            </a:extLst>
          </p:cNvPr>
          <p:cNvSpPr txBox="1"/>
          <p:nvPr/>
        </p:nvSpPr>
        <p:spPr>
          <a:xfrm>
            <a:off x="1017870" y="2150043"/>
            <a:ext cx="10390864" cy="3788794"/>
          </a:xfrm>
          <a:prstGeom prst="rect">
            <a:avLst/>
          </a:prstGeom>
          <a:noFill/>
        </p:spPr>
        <p:txBody>
          <a:bodyPr wrap="square">
            <a:spAutoFit/>
          </a:bodyPr>
          <a:lstStyle/>
          <a:p>
            <a:pPr marL="0" marR="0" algn="just">
              <a:lnSpc>
                <a:spcPct val="200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Hospitals generate large volumes of operational and clinical data. However, without effective analytics, decision-makers struggle to identify inefficiencies, capacity constraints, and challenges relating to workforce.</a:t>
            </a:r>
          </a:p>
          <a:p>
            <a:pPr marL="0" marR="0" algn="just">
              <a:lnSpc>
                <a:spcPct val="200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This analysis provides insight into Merit hospital data to support data-driven decision-making by the hospital management. </a:t>
            </a:r>
          </a:p>
        </p:txBody>
      </p:sp>
    </p:spTree>
    <p:extLst>
      <p:ext uri="{BB962C8B-B14F-4D97-AF65-F5344CB8AC3E}">
        <p14:creationId xmlns:p14="http://schemas.microsoft.com/office/powerpoint/2010/main" val="3685691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4BAA53-6A02-EB93-2B3A-AD76C6C2448E}"/>
              </a:ext>
            </a:extLst>
          </p:cNvPr>
          <p:cNvSpPr txBox="1"/>
          <p:nvPr/>
        </p:nvSpPr>
        <p:spPr>
          <a:xfrm>
            <a:off x="691116" y="2009827"/>
            <a:ext cx="10347251" cy="3636060"/>
          </a:xfrm>
          <a:prstGeom prst="rect">
            <a:avLst/>
          </a:prstGeom>
          <a:noFill/>
        </p:spPr>
        <p:txBody>
          <a:bodyPr wrap="square" rtlCol="0">
            <a:spAutoFit/>
          </a:bodyPr>
          <a:lstStyle/>
          <a:p>
            <a:pPr>
              <a:lnSpc>
                <a:spcPct val="250000"/>
              </a:lnSpc>
            </a:pPr>
            <a:r>
              <a:rPr lang="en-US" sz="2400" dirty="0"/>
              <a:t>MERIT hospital management seek to know which service is their strength and where they need to invest more in the new year in relation to employing more hands and purchase of more facilities that will make it seamless for their patients to have access to a better healthcare system in the new year. </a:t>
            </a:r>
          </a:p>
        </p:txBody>
      </p:sp>
      <p:sp>
        <p:nvSpPr>
          <p:cNvPr id="5" name="TextBox 4">
            <a:extLst>
              <a:ext uri="{FF2B5EF4-FFF2-40B4-BE49-F238E27FC236}">
                <a16:creationId xmlns:a16="http://schemas.microsoft.com/office/drawing/2014/main" id="{DEE3681A-1179-7D8D-CF08-5B739F82767B}"/>
              </a:ext>
            </a:extLst>
          </p:cNvPr>
          <p:cNvSpPr txBox="1"/>
          <p:nvPr/>
        </p:nvSpPr>
        <p:spPr>
          <a:xfrm>
            <a:off x="691116" y="1212113"/>
            <a:ext cx="3615070" cy="523220"/>
          </a:xfrm>
          <a:prstGeom prst="rect">
            <a:avLst/>
          </a:prstGeom>
          <a:noFill/>
        </p:spPr>
        <p:txBody>
          <a:bodyPr wrap="square" rtlCol="0">
            <a:spAutoFit/>
          </a:bodyPr>
          <a:lstStyle/>
          <a:p>
            <a:r>
              <a:rPr lang="en-US" sz="2800" b="1" dirty="0"/>
              <a:t>Problem Statement </a:t>
            </a:r>
          </a:p>
        </p:txBody>
      </p:sp>
    </p:spTree>
    <p:extLst>
      <p:ext uri="{BB962C8B-B14F-4D97-AF65-F5344CB8AC3E}">
        <p14:creationId xmlns:p14="http://schemas.microsoft.com/office/powerpoint/2010/main" val="408906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4D5CE9-0804-6BA1-0B1D-0C6A0EDCA9F3}"/>
              </a:ext>
            </a:extLst>
          </p:cNvPr>
          <p:cNvSpPr txBox="1"/>
          <p:nvPr/>
        </p:nvSpPr>
        <p:spPr>
          <a:xfrm>
            <a:off x="999460" y="1265275"/>
            <a:ext cx="2413591" cy="523220"/>
          </a:xfrm>
          <a:prstGeom prst="rect">
            <a:avLst/>
          </a:prstGeom>
          <a:noFill/>
        </p:spPr>
        <p:txBody>
          <a:bodyPr wrap="square" rtlCol="0">
            <a:spAutoFit/>
          </a:bodyPr>
          <a:lstStyle/>
          <a:p>
            <a:r>
              <a:rPr lang="en-US" sz="2800" b="1" dirty="0"/>
              <a:t>Objectives</a:t>
            </a:r>
          </a:p>
        </p:txBody>
      </p:sp>
      <p:sp>
        <p:nvSpPr>
          <p:cNvPr id="6" name="TextBox 5">
            <a:extLst>
              <a:ext uri="{FF2B5EF4-FFF2-40B4-BE49-F238E27FC236}">
                <a16:creationId xmlns:a16="http://schemas.microsoft.com/office/drawing/2014/main" id="{74EDF9EA-9DD3-75CC-050E-3D33267F0A9B}"/>
              </a:ext>
            </a:extLst>
          </p:cNvPr>
          <p:cNvSpPr txBox="1"/>
          <p:nvPr/>
        </p:nvSpPr>
        <p:spPr>
          <a:xfrm>
            <a:off x="1148316" y="2027625"/>
            <a:ext cx="8102010" cy="2779479"/>
          </a:xfrm>
          <a:prstGeom prst="rect">
            <a:avLst/>
          </a:prstGeom>
          <a:noFill/>
        </p:spPr>
        <p:txBody>
          <a:bodyPr wrap="square">
            <a:spAutoFit/>
          </a:bodyPr>
          <a:lstStyle/>
          <a:p>
            <a:pPr marL="342900" marR="0" indent="-342900">
              <a:lnSpc>
                <a:spcPct val="200000"/>
              </a:lnSpc>
              <a:spcAft>
                <a:spcPts val="800"/>
              </a:spcAft>
              <a:buFont typeface="Arial" panose="020B0604020202020204" pitchFamily="34" charset="0"/>
              <a:buChar char="•"/>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To monitor patient inflow, admissions, and refusals</a:t>
            </a:r>
          </a:p>
          <a:p>
            <a:pPr marL="342900" marR="0" indent="-342900">
              <a:lnSpc>
                <a:spcPct val="200000"/>
              </a:lnSpc>
              <a:spcAft>
                <a:spcPts val="800"/>
              </a:spcAft>
              <a:buFont typeface="Arial" panose="020B0604020202020204" pitchFamily="34" charset="0"/>
              <a:buChar char="•"/>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To </a:t>
            </a:r>
            <a:r>
              <a:rPr lang="en-US" sz="2000" kern="100" dirty="0">
                <a:latin typeface="Aptos" panose="020B0004020202020204" pitchFamily="34" charset="0"/>
                <a:ea typeface="Aptos" panose="020B0004020202020204" pitchFamily="34" charset="0"/>
                <a:cs typeface="Times New Roman" panose="02020603050405020304" pitchFamily="18" charset="0"/>
              </a:rPr>
              <a:t>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rack bed availability and utilization</a:t>
            </a:r>
          </a:p>
          <a:p>
            <a:pPr marL="342900" marR="0" indent="-342900">
              <a:lnSpc>
                <a:spcPct val="200000"/>
              </a:lnSpc>
              <a:spcAft>
                <a:spcPts val="800"/>
              </a:spcAft>
              <a:buFont typeface="Arial" panose="020B0604020202020204" pitchFamily="34" charset="0"/>
              <a:buChar char="•"/>
            </a:pPr>
            <a:r>
              <a:rPr lang="en-US" sz="2000" kern="100" dirty="0">
                <a:latin typeface="Aptos" panose="020B0004020202020204" pitchFamily="34" charset="0"/>
                <a:ea typeface="Aptos" panose="020B0004020202020204" pitchFamily="34" charset="0"/>
                <a:cs typeface="Times New Roman" panose="02020603050405020304" pitchFamily="18" charset="0"/>
              </a:rPr>
              <a:t>To 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valuate patient satisfaction</a:t>
            </a:r>
          </a:p>
          <a:p>
            <a:pPr marL="342900" marR="0" indent="-342900">
              <a:lnSpc>
                <a:spcPct val="200000"/>
              </a:lnSpc>
              <a:spcAft>
                <a:spcPts val="800"/>
              </a:spcAft>
              <a:buFont typeface="Arial" panose="020B0604020202020204" pitchFamily="34" charset="0"/>
              <a:buChar char="•"/>
            </a:pPr>
            <a:r>
              <a:rPr lang="en-US" sz="2000" kern="100" dirty="0">
                <a:latin typeface="Aptos" panose="020B0004020202020204" pitchFamily="34" charset="0"/>
                <a:ea typeface="Aptos" panose="020B0004020202020204" pitchFamily="34" charset="0"/>
                <a:cs typeface="Times New Roman" panose="02020603050405020304" pitchFamily="18" charset="0"/>
              </a:rPr>
              <a:t>To a</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ssess staff availability, attendance, </a:t>
            </a:r>
            <a:r>
              <a:rPr lang="en-US" sz="2000" kern="100">
                <a:effectLst/>
                <a:latin typeface="Aptos" panose="020B0004020202020204" pitchFamily="34" charset="0"/>
                <a:ea typeface="Aptos" panose="020B0004020202020204" pitchFamily="34" charset="0"/>
                <a:cs typeface="Times New Roman" panose="02020603050405020304" pitchFamily="18" charset="0"/>
              </a:rPr>
              <a:t>and morale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6378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BF033A2-75A2-09CB-2F1F-25528C1CEA29}"/>
              </a:ext>
            </a:extLst>
          </p:cNvPr>
          <p:cNvSpPr txBox="1"/>
          <p:nvPr/>
        </p:nvSpPr>
        <p:spPr>
          <a:xfrm>
            <a:off x="4181695" y="741389"/>
            <a:ext cx="3835254" cy="999697"/>
          </a:xfrm>
          <a:prstGeom prst="rect">
            <a:avLst/>
          </a:prstGeom>
          <a:noFill/>
        </p:spPr>
        <p:txBody>
          <a:bodyPr wrap="square">
            <a:spAutoFit/>
          </a:bodyPr>
          <a:lstStyle/>
          <a:p>
            <a:pPr marL="0" marR="0" algn="just">
              <a:lnSpc>
                <a:spcPct val="250000"/>
              </a:lnSpc>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Research Questions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F2B9F0A-4BB7-BF40-D8B8-3836B8D54DE3}"/>
              </a:ext>
            </a:extLst>
          </p:cNvPr>
          <p:cNvSpPr txBox="1"/>
          <p:nvPr/>
        </p:nvSpPr>
        <p:spPr>
          <a:xfrm>
            <a:off x="981074" y="1660026"/>
            <a:ext cx="10229852" cy="4318362"/>
          </a:xfrm>
          <a:prstGeom prst="rect">
            <a:avLst/>
          </a:prstGeom>
          <a:noFill/>
        </p:spPr>
        <p:txBody>
          <a:bodyPr wrap="square">
            <a:spAutoFit/>
          </a:bodyPr>
          <a:lstStyle/>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How do patient arrivals change over time?</a:t>
            </a:r>
          </a:p>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Are available hospital beds sufficient to handle patients’ demand?</a:t>
            </a:r>
          </a:p>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Which hospital services face the highest demand pressure?</a:t>
            </a:r>
          </a:p>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Which services record the highest patient refusals, and why?</a:t>
            </a:r>
          </a:p>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How does staff availability and attendance vary across services and months?</a:t>
            </a:r>
          </a:p>
          <a:p>
            <a:pPr marL="342900" marR="0" lvl="0" indent="-342900" algn="just">
              <a:lnSpc>
                <a:spcPct val="200000"/>
              </a:lnSpc>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What is the relationship between staff morale and service performance?</a:t>
            </a:r>
          </a:p>
          <a:p>
            <a:pPr marL="342900" marR="0" lvl="0" indent="-342900" algn="just">
              <a:lnSpc>
                <a:spcPct val="200000"/>
              </a:lnSpc>
              <a:spcAft>
                <a:spcPts val="800"/>
              </a:spcAft>
              <a:buFont typeface="+mj-lt"/>
              <a:buAutoNum type="arabicPeriod"/>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Where do operational or staffing gaps create inefficiencies in hospital service delivery?</a:t>
            </a:r>
          </a:p>
        </p:txBody>
      </p:sp>
    </p:spTree>
    <p:extLst>
      <p:ext uri="{BB962C8B-B14F-4D97-AF65-F5344CB8AC3E}">
        <p14:creationId xmlns:p14="http://schemas.microsoft.com/office/powerpoint/2010/main" val="917586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764587B-74F0-030A-C954-3E58A425804D}"/>
              </a:ext>
            </a:extLst>
          </p:cNvPr>
          <p:cNvSpPr txBox="1"/>
          <p:nvPr/>
        </p:nvSpPr>
        <p:spPr>
          <a:xfrm>
            <a:off x="3234513" y="1116418"/>
            <a:ext cx="5722974" cy="428835"/>
          </a:xfrm>
          <a:prstGeom prst="rect">
            <a:avLst/>
          </a:prstGeom>
          <a:noFill/>
        </p:spPr>
        <p:txBody>
          <a:bodyPr wrap="square">
            <a:spAutoFit/>
          </a:bodyPr>
          <a:lstStyle/>
          <a:p>
            <a:pPr marL="0" marR="0" algn="just">
              <a:lnSpc>
                <a:spcPct val="115000"/>
              </a:lnSpc>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Dataset Overview, Sources and Structure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AEC5F94-C185-0B5E-EA5A-E7C5E08518FB}"/>
              </a:ext>
            </a:extLst>
          </p:cNvPr>
          <p:cNvSpPr txBox="1"/>
          <p:nvPr/>
        </p:nvSpPr>
        <p:spPr>
          <a:xfrm>
            <a:off x="627320" y="1836940"/>
            <a:ext cx="10621926" cy="4099648"/>
          </a:xfrm>
          <a:prstGeom prst="rect">
            <a:avLst/>
          </a:prstGeom>
          <a:noFill/>
        </p:spPr>
        <p:txBody>
          <a:bodyPr wrap="square">
            <a:spAutoFit/>
          </a:bodyPr>
          <a:lstStyle/>
          <a:p>
            <a:pPr marL="457200" marR="0" algn="just">
              <a:lnSpc>
                <a:spcPct val="150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Patients Table: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table contains patient id, age, arrival and departure dates, service accessed, satisfaction ratings, and week of visit.</a:t>
            </a:r>
          </a:p>
          <a:p>
            <a:pPr marL="457200" marR="0" algn="just">
              <a:lnSpc>
                <a:spcPct val="150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Staff Table: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staff table </a:t>
            </a:r>
            <a:r>
              <a:rPr lang="en-US" kern="100" dirty="0">
                <a:latin typeface="Aptos" panose="020B0004020202020204" pitchFamily="34" charset="0"/>
                <a:ea typeface="Aptos" panose="020B0004020202020204" pitchFamily="34" charset="0"/>
                <a:cs typeface="Times New Roman" panose="02020603050405020304" pitchFamily="18" charset="0"/>
              </a:rPr>
              <a:t>contains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staff id, staff names, professional roles, and associated services. It serves as a dimension table for workforce analysis.</a:t>
            </a:r>
          </a:p>
          <a:p>
            <a:pPr marL="457200" marR="0" algn="just">
              <a:lnSpc>
                <a:spcPct val="150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Staff Schedule Table: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table records the presence or absence of staff by role, service, and week, enabling analysis of staffing levels, attendance rates, and workforce reliability.</a:t>
            </a:r>
          </a:p>
          <a:p>
            <a:pPr marL="457200" marR="0" algn="just">
              <a:lnSpc>
                <a:spcPct val="150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Services Weekly Table: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services weekly table is an aggregated fact table containing weekly operational metrics per service. It includes available beds, patient requests, admissions, refusals, patient satisfaction scores, staff morale indices, and notable events.</a:t>
            </a:r>
          </a:p>
        </p:txBody>
      </p:sp>
    </p:spTree>
    <p:extLst>
      <p:ext uri="{BB962C8B-B14F-4D97-AF65-F5344CB8AC3E}">
        <p14:creationId xmlns:p14="http://schemas.microsoft.com/office/powerpoint/2010/main" val="1436824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F15FE0C-BE23-922C-F465-094CDAEB6833}"/>
              </a:ext>
            </a:extLst>
          </p:cNvPr>
          <p:cNvSpPr txBox="1"/>
          <p:nvPr/>
        </p:nvSpPr>
        <p:spPr>
          <a:xfrm>
            <a:off x="4342071" y="688226"/>
            <a:ext cx="3234956" cy="999697"/>
          </a:xfrm>
          <a:prstGeom prst="rect">
            <a:avLst/>
          </a:prstGeom>
          <a:noFill/>
        </p:spPr>
        <p:txBody>
          <a:bodyPr wrap="square">
            <a:spAutoFit/>
          </a:bodyPr>
          <a:lstStyle/>
          <a:p>
            <a:pPr marL="0" marR="0" algn="just">
              <a:lnSpc>
                <a:spcPct val="250000"/>
              </a:lnSpc>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Methodology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6CD144B-CD85-6EF5-65B2-712428E5B51A}"/>
              </a:ext>
            </a:extLst>
          </p:cNvPr>
          <p:cNvSpPr txBox="1"/>
          <p:nvPr/>
        </p:nvSpPr>
        <p:spPr>
          <a:xfrm>
            <a:off x="926361" y="1687923"/>
            <a:ext cx="9801889" cy="4010585"/>
          </a:xfrm>
          <a:prstGeom prst="rect">
            <a:avLst/>
          </a:prstGeom>
          <a:noFill/>
        </p:spPr>
        <p:txBody>
          <a:bodyPr wrap="square">
            <a:spAutoFit/>
          </a:bodyPr>
          <a:lstStyle/>
          <a:p>
            <a:pPr marL="342900" marR="0" lvl="0" indent="-342900" algn="just">
              <a:lnSpc>
                <a:spcPct val="200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KPI calculations were implemented using DAX measures.</a:t>
            </a:r>
          </a:p>
          <a:p>
            <a:pPr marL="342900" marR="0" lvl="0" indent="-342900" algn="just">
              <a:lnSpc>
                <a:spcPct val="200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Ratio-based metrics such as admission rate, refusal rate, attendance rate, and bed occupancy were derived.</a:t>
            </a:r>
          </a:p>
          <a:p>
            <a:pPr marL="342900" marR="0" lvl="0" indent="-342900" algn="just">
              <a:lnSpc>
                <a:spcPct val="200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Conditional formatting was applied to matrices to visually highlight operational risks and performance variations.</a:t>
            </a:r>
          </a:p>
          <a:p>
            <a:pPr marL="342900" marR="0" lvl="0" indent="-342900" algn="just">
              <a:lnSpc>
                <a:spcPct val="200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Trend analysis was conducted using line charts to identify seasonal patterns.</a:t>
            </a:r>
          </a:p>
        </p:txBody>
      </p:sp>
    </p:spTree>
    <p:extLst>
      <p:ext uri="{BB962C8B-B14F-4D97-AF65-F5344CB8AC3E}">
        <p14:creationId xmlns:p14="http://schemas.microsoft.com/office/powerpoint/2010/main" val="827436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2F74A5-5DBB-702F-CDF6-8EE34E30CD59}"/>
              </a:ext>
            </a:extLst>
          </p:cNvPr>
          <p:cNvSpPr txBox="1"/>
          <p:nvPr/>
        </p:nvSpPr>
        <p:spPr>
          <a:xfrm>
            <a:off x="4522825" y="1140911"/>
            <a:ext cx="1988288" cy="523220"/>
          </a:xfrm>
          <a:prstGeom prst="rect">
            <a:avLst/>
          </a:prstGeom>
          <a:noFill/>
        </p:spPr>
        <p:txBody>
          <a:bodyPr wrap="square" rtlCol="0">
            <a:spAutoFit/>
          </a:bodyPr>
          <a:lstStyle/>
          <a:p>
            <a:r>
              <a:rPr lang="en-US" sz="2800" b="1" dirty="0"/>
              <a:t>DAX Used</a:t>
            </a:r>
          </a:p>
        </p:txBody>
      </p:sp>
      <p:sp>
        <p:nvSpPr>
          <p:cNvPr id="7" name="TextBox 6">
            <a:extLst>
              <a:ext uri="{FF2B5EF4-FFF2-40B4-BE49-F238E27FC236}">
                <a16:creationId xmlns:a16="http://schemas.microsoft.com/office/drawing/2014/main" id="{7D9B345D-17E7-183B-4569-442C8302CD9E}"/>
              </a:ext>
            </a:extLst>
          </p:cNvPr>
          <p:cNvSpPr txBox="1"/>
          <p:nvPr/>
        </p:nvSpPr>
        <p:spPr>
          <a:xfrm>
            <a:off x="1081863" y="1830912"/>
            <a:ext cx="8870212" cy="4207370"/>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Active_Staff_Present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CALCULATE(DISTINCTCOUNT(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staff_schedule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staff_name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staff_schedule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[present] = 1)</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Admission_Rate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DIVIDE(SUM(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patients_admitted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patients_request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]),0)</a:t>
            </a:r>
          </a:p>
          <a:p>
            <a:pPr marL="342900" marR="0" lvl="0" indent="-342900" algn="just">
              <a:lnSpc>
                <a:spcPct val="150000"/>
              </a:lnSpc>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Avg staff morale = AVERAGE(</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staff_morale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Avg_Len_of_Stay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AVERAGEX(patients, DATEDIFF(patients[</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arrival_date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patients[</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departure_date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DAY))</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Avg_Patients_Age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AVERAGE(patients[age])</a:t>
            </a:r>
          </a:p>
          <a:p>
            <a:pPr marL="342900" marR="0" lvl="0" indent="-342900" algn="just">
              <a:lnSpc>
                <a:spcPct val="150000"/>
              </a:lnSpc>
              <a:spcAft>
                <a:spcPts val="800"/>
              </a:spcAft>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Bed_Occupancy_Rate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DIVIDE(SUM(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patients_admitted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available_beds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106214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298F43-7E1C-75FA-81CF-C1D331234DB7}"/>
              </a:ext>
            </a:extLst>
          </p:cNvPr>
          <p:cNvSpPr txBox="1"/>
          <p:nvPr/>
        </p:nvSpPr>
        <p:spPr>
          <a:xfrm>
            <a:off x="4837815" y="1002688"/>
            <a:ext cx="1988288" cy="523220"/>
          </a:xfrm>
          <a:prstGeom prst="rect">
            <a:avLst/>
          </a:prstGeom>
          <a:noFill/>
        </p:spPr>
        <p:txBody>
          <a:bodyPr wrap="square" rtlCol="0">
            <a:spAutoFit/>
          </a:bodyPr>
          <a:lstStyle/>
          <a:p>
            <a:r>
              <a:rPr lang="en-US" sz="2800" b="1" dirty="0"/>
              <a:t>DAX Used</a:t>
            </a:r>
          </a:p>
        </p:txBody>
      </p:sp>
      <p:sp>
        <p:nvSpPr>
          <p:cNvPr id="4" name="TextBox 3">
            <a:extLst>
              <a:ext uri="{FF2B5EF4-FFF2-40B4-BE49-F238E27FC236}">
                <a16:creationId xmlns:a16="http://schemas.microsoft.com/office/drawing/2014/main" id="{55EC9045-20D4-670B-EE5E-41248E72E056}"/>
              </a:ext>
            </a:extLst>
          </p:cNvPr>
          <p:cNvSpPr txBox="1"/>
          <p:nvPr/>
        </p:nvSpPr>
        <p:spPr>
          <a:xfrm>
            <a:off x="1148316" y="1725015"/>
            <a:ext cx="8463515" cy="4622869"/>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Beds_Available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available_beds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Patients_Satisfaction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AVERAGE(</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patient_satisfaction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Refusal_Rate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DIVIDE(SUM(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patients_refused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patients_request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0)</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Staff_Attendance_Rate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DIVIDE(SUM(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staff_schedule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[present]), COUNTROWS(</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staff_schedule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Total Refusal =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patients_refused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Total_Admission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patients_admitted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Total_Patients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COUNTROWS(patients)</a:t>
            </a:r>
          </a:p>
          <a:p>
            <a:pPr marL="342900" marR="0" lvl="0" indent="-342900" algn="just">
              <a:lnSpc>
                <a:spcPct val="150000"/>
              </a:lnSpc>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Total_Requests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sum(</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services_weekly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patients_request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gn="just">
              <a:lnSpc>
                <a:spcPct val="150000"/>
              </a:lnSpc>
              <a:spcAft>
                <a:spcPts val="800"/>
              </a:spcAft>
              <a:buFont typeface="Symbol" panose="05050102010706020507" pitchFamily="18" charset="2"/>
              <a:buChar char=""/>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Total_Staff</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DISTINCTCOUNT(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staff_schedule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staff_name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4041162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2DF7B3-7AE3-21C2-720F-8B2B568D1C67}"/>
              </a:ext>
            </a:extLst>
          </p:cNvPr>
          <p:cNvSpPr txBox="1"/>
          <p:nvPr/>
        </p:nvSpPr>
        <p:spPr>
          <a:xfrm>
            <a:off x="1187302" y="1156725"/>
            <a:ext cx="5649433" cy="523220"/>
          </a:xfrm>
          <a:prstGeom prst="rect">
            <a:avLst/>
          </a:prstGeom>
          <a:noFill/>
        </p:spPr>
        <p:txBody>
          <a:bodyPr wrap="square" rtlCol="0">
            <a:spAutoFit/>
          </a:bodyPr>
          <a:lstStyle/>
          <a:p>
            <a:r>
              <a:rPr lang="en-US" sz="2800" b="1" dirty="0"/>
              <a:t>Dashboard Overview (Patients)</a:t>
            </a:r>
          </a:p>
        </p:txBody>
      </p:sp>
      <p:pic>
        <p:nvPicPr>
          <p:cNvPr id="5" name="Picture 4" descr="A screenshot of a computer&#10;&#10;AI-generated content may be incorrect.">
            <a:extLst>
              <a:ext uri="{FF2B5EF4-FFF2-40B4-BE49-F238E27FC236}">
                <a16:creationId xmlns:a16="http://schemas.microsoft.com/office/drawing/2014/main" id="{C03AAC5D-3FA8-D93E-B7C9-21086E5BE383}"/>
              </a:ext>
            </a:extLst>
          </p:cNvPr>
          <p:cNvPicPr>
            <a:picLocks noChangeAspect="1"/>
          </p:cNvPicPr>
          <p:nvPr/>
        </p:nvPicPr>
        <p:blipFill>
          <a:blip r:embed="rId2"/>
          <a:stretch>
            <a:fillRect/>
          </a:stretch>
        </p:blipFill>
        <p:spPr>
          <a:xfrm>
            <a:off x="1041272" y="1851650"/>
            <a:ext cx="7855354" cy="4388076"/>
          </a:xfrm>
          <a:prstGeom prst="rect">
            <a:avLst/>
          </a:prstGeom>
        </p:spPr>
      </p:pic>
    </p:spTree>
    <p:extLst>
      <p:ext uri="{BB962C8B-B14F-4D97-AF65-F5344CB8AC3E}">
        <p14:creationId xmlns:p14="http://schemas.microsoft.com/office/powerpoint/2010/main" val="3563729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D3580D-A453-BEED-3AC4-120EC86244B2}"/>
              </a:ext>
            </a:extLst>
          </p:cNvPr>
          <p:cNvSpPr txBox="1"/>
          <p:nvPr/>
        </p:nvSpPr>
        <p:spPr>
          <a:xfrm>
            <a:off x="1091609" y="1071665"/>
            <a:ext cx="6744586" cy="523220"/>
          </a:xfrm>
          <a:prstGeom prst="rect">
            <a:avLst/>
          </a:prstGeom>
          <a:noFill/>
        </p:spPr>
        <p:txBody>
          <a:bodyPr wrap="square" rtlCol="0">
            <a:spAutoFit/>
          </a:bodyPr>
          <a:lstStyle/>
          <a:p>
            <a:r>
              <a:rPr lang="en-US" sz="2800" b="1" dirty="0"/>
              <a:t>Dashboard Overview (Staff and Services)</a:t>
            </a:r>
          </a:p>
        </p:txBody>
      </p:sp>
      <p:pic>
        <p:nvPicPr>
          <p:cNvPr id="5" name="Picture 4" descr="A screenshot of a computer&#10;&#10;AI-generated content may be incorrect.">
            <a:extLst>
              <a:ext uri="{FF2B5EF4-FFF2-40B4-BE49-F238E27FC236}">
                <a16:creationId xmlns:a16="http://schemas.microsoft.com/office/drawing/2014/main" id="{BEC540A8-3E2E-AF1F-E981-D76F893AA5D0}"/>
              </a:ext>
            </a:extLst>
          </p:cNvPr>
          <p:cNvPicPr>
            <a:picLocks noChangeAspect="1"/>
          </p:cNvPicPr>
          <p:nvPr/>
        </p:nvPicPr>
        <p:blipFill>
          <a:blip r:embed="rId2"/>
          <a:stretch>
            <a:fillRect/>
          </a:stretch>
        </p:blipFill>
        <p:spPr>
          <a:xfrm>
            <a:off x="1091609" y="1834667"/>
            <a:ext cx="7791850" cy="4400776"/>
          </a:xfrm>
          <a:prstGeom prst="rect">
            <a:avLst/>
          </a:prstGeom>
        </p:spPr>
      </p:pic>
    </p:spTree>
    <p:extLst>
      <p:ext uri="{BB962C8B-B14F-4D97-AF65-F5344CB8AC3E}">
        <p14:creationId xmlns:p14="http://schemas.microsoft.com/office/powerpoint/2010/main" val="199183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EB89217-D840-85D2-2895-0CC45DB28189}"/>
              </a:ext>
            </a:extLst>
          </p:cNvPr>
          <p:cNvSpPr txBox="1"/>
          <p:nvPr/>
        </p:nvSpPr>
        <p:spPr>
          <a:xfrm>
            <a:off x="3987209" y="1233377"/>
            <a:ext cx="3317358"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(Patients)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FEC92CE-682C-3287-D36E-0227B4250E57}"/>
              </a:ext>
            </a:extLst>
          </p:cNvPr>
          <p:cNvSpPr txBox="1"/>
          <p:nvPr/>
        </p:nvSpPr>
        <p:spPr>
          <a:xfrm>
            <a:off x="496629" y="4556236"/>
            <a:ext cx="11198742" cy="1804533"/>
          </a:xfrm>
          <a:prstGeom prst="rect">
            <a:avLst/>
          </a:prstGeom>
          <a:noFill/>
        </p:spPr>
        <p:txBody>
          <a:bodyPr wrap="square">
            <a:spAutoFit/>
          </a:bodyPr>
          <a:lstStyle/>
          <a:p>
            <a:pPr marL="0" marR="0" algn="just">
              <a:lnSpc>
                <a:spcPct val="150000"/>
              </a:lnSpc>
              <a:spcAft>
                <a:spcPts val="800"/>
              </a:spcAft>
              <a:buNone/>
            </a:pPr>
            <a:r>
              <a:rPr lang="en-US" sz="1900" kern="100" dirty="0">
                <a:effectLst/>
                <a:latin typeface="Aptos" panose="020B0004020202020204" pitchFamily="34" charset="0"/>
                <a:ea typeface="Aptos" panose="020B0004020202020204" pitchFamily="34" charset="0"/>
                <a:cs typeface="Times New Roman" panose="02020603050405020304" pitchFamily="18" charset="0"/>
              </a:rPr>
              <a:t>MERIT hospital received a total of 1000 patients whose average age is 45 and they stayed for an average length of 7 days with 261 in emergency, 250 in surgery, 239 in General Medicine, 236 in ICU and 14 untagged. A deeper drill into the blank service showed a possibility of registration errors as many of the patients have discharge dates of January 2026. </a:t>
            </a:r>
          </a:p>
        </p:txBody>
      </p:sp>
      <p:pic>
        <p:nvPicPr>
          <p:cNvPr id="12" name="Picture 11" descr="A screenshot of a computer&#10;&#10;AI-generated content may be incorrect.">
            <a:extLst>
              <a:ext uri="{FF2B5EF4-FFF2-40B4-BE49-F238E27FC236}">
                <a16:creationId xmlns:a16="http://schemas.microsoft.com/office/drawing/2014/main" id="{247D441C-1712-9C44-15F3-BE856888BD80}"/>
              </a:ext>
            </a:extLst>
          </p:cNvPr>
          <p:cNvPicPr>
            <a:picLocks noChangeAspect="1"/>
          </p:cNvPicPr>
          <p:nvPr/>
        </p:nvPicPr>
        <p:blipFill>
          <a:blip r:embed="rId2"/>
          <a:stretch>
            <a:fillRect/>
          </a:stretch>
        </p:blipFill>
        <p:spPr>
          <a:xfrm>
            <a:off x="2755728" y="1833432"/>
            <a:ext cx="4895346" cy="2494206"/>
          </a:xfrm>
          <a:prstGeom prst="rect">
            <a:avLst/>
          </a:prstGeom>
        </p:spPr>
      </p:pic>
      <p:grpSp>
        <p:nvGrpSpPr>
          <p:cNvPr id="15" name="Group 14">
            <a:extLst>
              <a:ext uri="{FF2B5EF4-FFF2-40B4-BE49-F238E27FC236}">
                <a16:creationId xmlns:a16="http://schemas.microsoft.com/office/drawing/2014/main" id="{3166E371-772D-3D65-CA77-77F106749E73}"/>
              </a:ext>
            </a:extLst>
          </p:cNvPr>
          <p:cNvGrpSpPr/>
          <p:nvPr/>
        </p:nvGrpSpPr>
        <p:grpSpPr>
          <a:xfrm>
            <a:off x="624663" y="1833432"/>
            <a:ext cx="1932784" cy="2580091"/>
            <a:chOff x="787216" y="1828119"/>
            <a:chExt cx="1932784" cy="2580091"/>
          </a:xfrm>
        </p:grpSpPr>
        <p:pic>
          <p:nvPicPr>
            <p:cNvPr id="6" name="Picture 5" descr="A close-up of a number&#10;&#10;AI-generated content may be incorrect.">
              <a:extLst>
                <a:ext uri="{FF2B5EF4-FFF2-40B4-BE49-F238E27FC236}">
                  <a16:creationId xmlns:a16="http://schemas.microsoft.com/office/drawing/2014/main" id="{8D897CA8-F216-D2D5-B684-1C86771FF762}"/>
                </a:ext>
              </a:extLst>
            </p:cNvPr>
            <p:cNvPicPr>
              <a:picLocks noChangeAspect="1"/>
            </p:cNvPicPr>
            <p:nvPr/>
          </p:nvPicPr>
          <p:blipFill>
            <a:blip r:embed="rId3"/>
            <a:stretch>
              <a:fillRect/>
            </a:stretch>
          </p:blipFill>
          <p:spPr>
            <a:xfrm>
              <a:off x="787216" y="1828119"/>
              <a:ext cx="1932783" cy="861917"/>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654C6D04-91D4-3E5B-D8DF-F28825E5A63F}"/>
                </a:ext>
              </a:extLst>
            </p:cNvPr>
            <p:cNvPicPr>
              <a:picLocks noChangeAspect="1"/>
            </p:cNvPicPr>
            <p:nvPr/>
          </p:nvPicPr>
          <p:blipFill>
            <a:blip r:embed="rId4"/>
            <a:srcRect t="50476"/>
            <a:stretch>
              <a:fillRect/>
            </a:stretch>
          </p:blipFill>
          <p:spPr>
            <a:xfrm>
              <a:off x="787216" y="3546293"/>
              <a:ext cx="1932784" cy="861917"/>
            </a:xfrm>
            <a:prstGeom prst="rect">
              <a:avLst/>
            </a:prstGeom>
          </p:spPr>
        </p:pic>
        <p:pic>
          <p:nvPicPr>
            <p:cNvPr id="14" name="Picture 13" descr="A close-up of a number&#10;&#10;AI-generated content may be incorrect.">
              <a:extLst>
                <a:ext uri="{FF2B5EF4-FFF2-40B4-BE49-F238E27FC236}">
                  <a16:creationId xmlns:a16="http://schemas.microsoft.com/office/drawing/2014/main" id="{03E8085D-DF3A-3434-2292-6FEBD2E96C31}"/>
                </a:ext>
              </a:extLst>
            </p:cNvPr>
            <p:cNvPicPr>
              <a:picLocks noChangeAspect="1"/>
            </p:cNvPicPr>
            <p:nvPr/>
          </p:nvPicPr>
          <p:blipFill>
            <a:blip r:embed="rId5"/>
            <a:stretch>
              <a:fillRect/>
            </a:stretch>
          </p:blipFill>
          <p:spPr>
            <a:xfrm>
              <a:off x="787216" y="2684376"/>
              <a:ext cx="1932783" cy="861917"/>
            </a:xfrm>
            <a:prstGeom prst="rect">
              <a:avLst/>
            </a:prstGeom>
          </p:spPr>
        </p:pic>
      </p:grpSp>
      <p:pic>
        <p:nvPicPr>
          <p:cNvPr id="17" name="Picture 16" descr="A screenshot of a calendar&#10;&#10;AI-generated content may be incorrect.">
            <a:extLst>
              <a:ext uri="{FF2B5EF4-FFF2-40B4-BE49-F238E27FC236}">
                <a16:creationId xmlns:a16="http://schemas.microsoft.com/office/drawing/2014/main" id="{EA0C59BA-0626-6E94-E9C6-BA08EE59EC78}"/>
              </a:ext>
            </a:extLst>
          </p:cNvPr>
          <p:cNvPicPr>
            <a:picLocks noChangeAspect="1"/>
          </p:cNvPicPr>
          <p:nvPr/>
        </p:nvPicPr>
        <p:blipFill>
          <a:blip r:embed="rId6"/>
          <a:stretch>
            <a:fillRect/>
          </a:stretch>
        </p:blipFill>
        <p:spPr>
          <a:xfrm>
            <a:off x="7397817" y="1889113"/>
            <a:ext cx="4076910" cy="2438525"/>
          </a:xfrm>
          <a:prstGeom prst="rect">
            <a:avLst/>
          </a:prstGeom>
        </p:spPr>
      </p:pic>
    </p:spTree>
    <p:extLst>
      <p:ext uri="{BB962C8B-B14F-4D97-AF65-F5344CB8AC3E}">
        <p14:creationId xmlns:p14="http://schemas.microsoft.com/office/powerpoint/2010/main" val="2145193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6E76C4-079C-EC38-8883-CE29DEEF3707}"/>
              </a:ext>
            </a:extLst>
          </p:cNvPr>
          <p:cNvSpPr txBox="1"/>
          <p:nvPr/>
        </p:nvSpPr>
        <p:spPr>
          <a:xfrm>
            <a:off x="3987209" y="1233377"/>
            <a:ext cx="3317358"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(Patients)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346DE32-07AE-52B2-32F8-7DF63DFC3F49}"/>
              </a:ext>
            </a:extLst>
          </p:cNvPr>
          <p:cNvSpPr txBox="1"/>
          <p:nvPr/>
        </p:nvSpPr>
        <p:spPr>
          <a:xfrm>
            <a:off x="1344125" y="4949212"/>
            <a:ext cx="8763886" cy="883383"/>
          </a:xfrm>
          <a:prstGeom prst="rect">
            <a:avLst/>
          </a:prstGeom>
          <a:noFill/>
        </p:spPr>
        <p:txBody>
          <a:bodyPr wrap="square">
            <a:spAutoFit/>
          </a:bodyPr>
          <a:lstStyle/>
          <a:p>
            <a:pPr marL="0" marR="0" algn="just">
              <a:lnSpc>
                <a:spcPct val="15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Patients’ arrivals was highest on Saturdays (154) followed by Wednesday (149) and Friday (148) and September (94) received the highest number of patients in the year. </a:t>
            </a:r>
          </a:p>
        </p:txBody>
      </p:sp>
      <p:pic>
        <p:nvPicPr>
          <p:cNvPr id="6" name="Picture 5" descr="A screenshot of a graph&#10;&#10;AI-generated content may be incorrect.">
            <a:extLst>
              <a:ext uri="{FF2B5EF4-FFF2-40B4-BE49-F238E27FC236}">
                <a16:creationId xmlns:a16="http://schemas.microsoft.com/office/drawing/2014/main" id="{21AF85E7-5738-AA06-3E63-BF0713701604}"/>
              </a:ext>
            </a:extLst>
          </p:cNvPr>
          <p:cNvPicPr>
            <a:picLocks noChangeAspect="1"/>
          </p:cNvPicPr>
          <p:nvPr/>
        </p:nvPicPr>
        <p:blipFill>
          <a:blip r:embed="rId2"/>
          <a:stretch>
            <a:fillRect/>
          </a:stretch>
        </p:blipFill>
        <p:spPr>
          <a:xfrm>
            <a:off x="1489430" y="2001912"/>
            <a:ext cx="8473275" cy="2674863"/>
          </a:xfrm>
          <a:prstGeom prst="rect">
            <a:avLst/>
          </a:prstGeom>
        </p:spPr>
      </p:pic>
    </p:spTree>
    <p:extLst>
      <p:ext uri="{BB962C8B-B14F-4D97-AF65-F5344CB8AC3E}">
        <p14:creationId xmlns:p14="http://schemas.microsoft.com/office/powerpoint/2010/main" val="3549660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52CE4-295C-1F52-BD3E-219F7C8BF7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7C3F4F-4A01-2E95-8407-FDD57B94848E}"/>
              </a:ext>
            </a:extLst>
          </p:cNvPr>
          <p:cNvSpPr txBox="1"/>
          <p:nvPr/>
        </p:nvSpPr>
        <p:spPr>
          <a:xfrm>
            <a:off x="3987209" y="1233377"/>
            <a:ext cx="3317358"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(Patients)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230CA6C-FFDC-B5F5-031E-80D432CCDA5D}"/>
              </a:ext>
            </a:extLst>
          </p:cNvPr>
          <p:cNvSpPr txBox="1"/>
          <p:nvPr/>
        </p:nvSpPr>
        <p:spPr>
          <a:xfrm>
            <a:off x="829197" y="4264350"/>
            <a:ext cx="10983575" cy="1907125"/>
          </a:xfrm>
          <a:prstGeom prst="rect">
            <a:avLst/>
          </a:prstGeom>
          <a:noFill/>
        </p:spPr>
        <p:txBody>
          <a:bodyPr wrap="square">
            <a:spAutoFit/>
          </a:bodyPr>
          <a:lstStyle/>
          <a:p>
            <a:pPr marL="0" marR="0" algn="just">
              <a:lnSpc>
                <a:spcPct val="150000"/>
              </a:lnSpc>
              <a:spcAft>
                <a:spcPts val="800"/>
              </a:spcAft>
              <a:buNone/>
            </a:pPr>
            <a:r>
              <a:rPr lang="en-US" sz="1900" kern="100" dirty="0">
                <a:effectLst/>
                <a:latin typeface="Aptos" panose="020B0004020202020204" pitchFamily="34" charset="0"/>
                <a:ea typeface="Aptos" panose="020B0004020202020204" pitchFamily="34" charset="0"/>
                <a:cs typeface="Times New Roman" panose="02020603050405020304" pitchFamily="18" charset="0"/>
              </a:rPr>
              <a:t>A 93% bed occupancy rate indicates that the hospital available bed spaces are heavily occupied at every given time leaving them with just 7% of beds free resulting in a decrease in admission strength. </a:t>
            </a:r>
          </a:p>
          <a:p>
            <a:pPr marL="0" marR="0" algn="just">
              <a:lnSpc>
                <a:spcPct val="150000"/>
              </a:lnSpc>
              <a:spcAft>
                <a:spcPts val="800"/>
              </a:spcAft>
              <a:buNone/>
            </a:pPr>
            <a:r>
              <a:rPr lang="en-US" sz="1900" kern="100" dirty="0">
                <a:effectLst/>
                <a:latin typeface="Aptos" panose="020B0004020202020204" pitchFamily="34" charset="0"/>
                <a:ea typeface="Aptos" panose="020B0004020202020204" pitchFamily="34" charset="0"/>
                <a:cs typeface="Times New Roman" panose="02020603050405020304" pitchFamily="18" charset="0"/>
              </a:rPr>
              <a:t>An overall satisfaction average of 80 further showed that about 39% of the patients are averagely satisfied, 35% highly satisfied, and 25% not satisfied with the service they received. </a:t>
            </a:r>
          </a:p>
        </p:txBody>
      </p:sp>
      <p:grpSp>
        <p:nvGrpSpPr>
          <p:cNvPr id="13" name="Group 12">
            <a:extLst>
              <a:ext uri="{FF2B5EF4-FFF2-40B4-BE49-F238E27FC236}">
                <a16:creationId xmlns:a16="http://schemas.microsoft.com/office/drawing/2014/main" id="{AC428897-5AD4-CB1E-7947-94DBE066F984}"/>
              </a:ext>
            </a:extLst>
          </p:cNvPr>
          <p:cNvGrpSpPr/>
          <p:nvPr/>
        </p:nvGrpSpPr>
        <p:grpSpPr>
          <a:xfrm>
            <a:off x="1804903" y="1850846"/>
            <a:ext cx="2182305" cy="2146996"/>
            <a:chOff x="1214439" y="1785475"/>
            <a:chExt cx="2458753" cy="2304740"/>
          </a:xfrm>
        </p:grpSpPr>
        <p:pic>
          <p:nvPicPr>
            <p:cNvPr id="8" name="Picture 7" descr="A white rectangular sign with blue text&#10;&#10;AI-generated content may be incorrect.">
              <a:extLst>
                <a:ext uri="{FF2B5EF4-FFF2-40B4-BE49-F238E27FC236}">
                  <a16:creationId xmlns:a16="http://schemas.microsoft.com/office/drawing/2014/main" id="{F75EFC22-E9FC-0021-5064-EBE081CDAC7F}"/>
                </a:ext>
              </a:extLst>
            </p:cNvPr>
            <p:cNvPicPr>
              <a:picLocks noChangeAspect="1"/>
            </p:cNvPicPr>
            <p:nvPr/>
          </p:nvPicPr>
          <p:blipFill>
            <a:blip r:embed="rId2"/>
            <a:stretch>
              <a:fillRect/>
            </a:stretch>
          </p:blipFill>
          <p:spPr>
            <a:xfrm>
              <a:off x="1214439" y="1785475"/>
              <a:ext cx="2458752" cy="1146630"/>
            </a:xfrm>
            <a:prstGeom prst="rect">
              <a:avLst/>
            </a:prstGeom>
          </p:spPr>
        </p:pic>
        <p:pic>
          <p:nvPicPr>
            <p:cNvPr id="10" name="Picture 9" descr="A close-up of a number&#10;&#10;AI-generated content may be incorrect.">
              <a:extLst>
                <a:ext uri="{FF2B5EF4-FFF2-40B4-BE49-F238E27FC236}">
                  <a16:creationId xmlns:a16="http://schemas.microsoft.com/office/drawing/2014/main" id="{38967DED-EDF1-96B1-1EB6-6E15674E4913}"/>
                </a:ext>
              </a:extLst>
            </p:cNvPr>
            <p:cNvPicPr>
              <a:picLocks noChangeAspect="1"/>
            </p:cNvPicPr>
            <p:nvPr/>
          </p:nvPicPr>
          <p:blipFill>
            <a:blip r:embed="rId3"/>
            <a:stretch>
              <a:fillRect/>
            </a:stretch>
          </p:blipFill>
          <p:spPr>
            <a:xfrm>
              <a:off x="1214440" y="2979048"/>
              <a:ext cx="2458752" cy="1111167"/>
            </a:xfrm>
            <a:prstGeom prst="rect">
              <a:avLst/>
            </a:prstGeom>
          </p:spPr>
        </p:pic>
      </p:grpSp>
      <p:pic>
        <p:nvPicPr>
          <p:cNvPr id="12" name="Picture 11" descr="A blue circle with white text&#10;&#10;AI-generated content may be incorrect.">
            <a:extLst>
              <a:ext uri="{FF2B5EF4-FFF2-40B4-BE49-F238E27FC236}">
                <a16:creationId xmlns:a16="http://schemas.microsoft.com/office/drawing/2014/main" id="{DA9566FA-A72D-EE83-40CE-E3DF61A81EC8}"/>
              </a:ext>
            </a:extLst>
          </p:cNvPr>
          <p:cNvPicPr>
            <a:picLocks noChangeAspect="1"/>
          </p:cNvPicPr>
          <p:nvPr/>
        </p:nvPicPr>
        <p:blipFill>
          <a:blip r:embed="rId4"/>
          <a:stretch>
            <a:fillRect/>
          </a:stretch>
        </p:blipFill>
        <p:spPr>
          <a:xfrm>
            <a:off x="5215871" y="1776418"/>
            <a:ext cx="3970660" cy="2471053"/>
          </a:xfrm>
          <a:prstGeom prst="rect">
            <a:avLst/>
          </a:prstGeom>
        </p:spPr>
      </p:pic>
    </p:spTree>
    <p:extLst>
      <p:ext uri="{BB962C8B-B14F-4D97-AF65-F5344CB8AC3E}">
        <p14:creationId xmlns:p14="http://schemas.microsoft.com/office/powerpoint/2010/main" val="2285154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B3DBC1AD-5E48-1364-3351-B7CEA1A216C9}"/>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466E3BC-C185-2736-0435-4D1DA2F31269}"/>
              </a:ext>
            </a:extLst>
          </p:cNvPr>
          <p:cNvSpPr txBox="1"/>
          <p:nvPr/>
        </p:nvSpPr>
        <p:spPr>
          <a:xfrm>
            <a:off x="4744779" y="2496072"/>
            <a:ext cx="5122235" cy="2233753"/>
          </a:xfrm>
          <a:prstGeom prst="rect">
            <a:avLst/>
          </a:prstGeom>
          <a:noFill/>
        </p:spPr>
        <p:txBody>
          <a:bodyPr wrap="square">
            <a:spAutoFit/>
          </a:bodyPr>
          <a:lstStyle/>
          <a:p>
            <a:pPr marL="0" marR="0" algn="just">
              <a:lnSpc>
                <a:spcPct val="20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MERIT hospital received a total of 13493 admission requests across services but was only able to admit 5851 patients because they had only 6312 available beds. </a:t>
            </a:r>
          </a:p>
        </p:txBody>
      </p:sp>
      <p:pic>
        <p:nvPicPr>
          <p:cNvPr id="7" name="Picture 6" descr="A screenshot of a phone&#10;&#10;AI-generated content may be incorrect.">
            <a:extLst>
              <a:ext uri="{FF2B5EF4-FFF2-40B4-BE49-F238E27FC236}">
                <a16:creationId xmlns:a16="http://schemas.microsoft.com/office/drawing/2014/main" id="{E0F733C0-1187-ACF0-20AF-7BA2A9FAB78F}"/>
              </a:ext>
            </a:extLst>
          </p:cNvPr>
          <p:cNvPicPr>
            <a:picLocks noChangeAspect="1"/>
          </p:cNvPicPr>
          <p:nvPr/>
        </p:nvPicPr>
        <p:blipFill>
          <a:blip r:embed="rId2"/>
          <a:stretch>
            <a:fillRect/>
          </a:stretch>
        </p:blipFill>
        <p:spPr>
          <a:xfrm>
            <a:off x="1718598" y="2090372"/>
            <a:ext cx="2147224" cy="3045154"/>
          </a:xfrm>
          <a:prstGeom prst="rect">
            <a:avLst/>
          </a:prstGeom>
        </p:spPr>
      </p:pic>
    </p:spTree>
    <p:extLst>
      <p:ext uri="{BB962C8B-B14F-4D97-AF65-F5344CB8AC3E}">
        <p14:creationId xmlns:p14="http://schemas.microsoft.com/office/powerpoint/2010/main" val="3270276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B576D-BCF3-A387-E08A-7ABB61695418}"/>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E7106E3-DE6A-12E2-8C2C-00542AFF8FDB}"/>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2DE1BA4-FBE3-558C-715B-AB18FB6C9FD3}"/>
              </a:ext>
            </a:extLst>
          </p:cNvPr>
          <p:cNvSpPr txBox="1"/>
          <p:nvPr/>
        </p:nvSpPr>
        <p:spPr>
          <a:xfrm>
            <a:off x="6494782" y="1871330"/>
            <a:ext cx="4276000" cy="3791872"/>
          </a:xfrm>
          <a:prstGeom prst="rect">
            <a:avLst/>
          </a:prstGeom>
          <a:noFill/>
        </p:spPr>
        <p:txBody>
          <a:bodyPr wrap="square">
            <a:spAutoFit/>
          </a:bodyPr>
          <a:lstStyle/>
          <a:p>
            <a:pPr marL="0" marR="0" algn="just">
              <a:lnSpc>
                <a:spcPct val="15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hospital has only 126 staff consisting of 73 nurses, 31 nursing assistants, and 22 doctors with 39 of these staff in emergency, the department that received the highest admission request of 6193, but rejected a whooping 5008 patients, indicating the need to employ more hands and provide more capacity to admit more patients. </a:t>
            </a:r>
          </a:p>
        </p:txBody>
      </p:sp>
      <p:pic>
        <p:nvPicPr>
          <p:cNvPr id="9" name="Picture 8" descr="A screenshot of a graph&#10;&#10;AI-generated content may be incorrect.">
            <a:extLst>
              <a:ext uri="{FF2B5EF4-FFF2-40B4-BE49-F238E27FC236}">
                <a16:creationId xmlns:a16="http://schemas.microsoft.com/office/drawing/2014/main" id="{0FCF1B07-F174-F17A-6134-7A6788464830}"/>
              </a:ext>
            </a:extLst>
          </p:cNvPr>
          <p:cNvPicPr>
            <a:picLocks noChangeAspect="1"/>
          </p:cNvPicPr>
          <p:nvPr/>
        </p:nvPicPr>
        <p:blipFill>
          <a:blip r:embed="rId2"/>
          <a:stretch>
            <a:fillRect/>
          </a:stretch>
        </p:blipFill>
        <p:spPr>
          <a:xfrm>
            <a:off x="874217" y="1950061"/>
            <a:ext cx="4590917" cy="1839768"/>
          </a:xfrm>
          <a:prstGeom prst="rect">
            <a:avLst/>
          </a:prstGeom>
        </p:spPr>
      </p:pic>
      <p:pic>
        <p:nvPicPr>
          <p:cNvPr id="6" name="Picture 5" descr="A white sign with black text and numbers&#10;&#10;AI-generated content may be incorrect.">
            <a:extLst>
              <a:ext uri="{FF2B5EF4-FFF2-40B4-BE49-F238E27FC236}">
                <a16:creationId xmlns:a16="http://schemas.microsoft.com/office/drawing/2014/main" id="{2DFFECD4-9F6B-4342-CBF5-696122705622}"/>
              </a:ext>
            </a:extLst>
          </p:cNvPr>
          <p:cNvPicPr>
            <a:picLocks noChangeAspect="1"/>
          </p:cNvPicPr>
          <p:nvPr/>
        </p:nvPicPr>
        <p:blipFill>
          <a:blip r:embed="rId3"/>
          <a:stretch>
            <a:fillRect/>
          </a:stretch>
        </p:blipFill>
        <p:spPr>
          <a:xfrm>
            <a:off x="3727885" y="2058583"/>
            <a:ext cx="1617656" cy="734588"/>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FED6CE9C-32D8-7411-F839-814F52B804FE}"/>
              </a:ext>
            </a:extLst>
          </p:cNvPr>
          <p:cNvPicPr>
            <a:picLocks noChangeAspect="1"/>
          </p:cNvPicPr>
          <p:nvPr/>
        </p:nvPicPr>
        <p:blipFill>
          <a:blip r:embed="rId4"/>
          <a:srcRect b="58659"/>
          <a:stretch>
            <a:fillRect/>
          </a:stretch>
        </p:blipFill>
        <p:spPr>
          <a:xfrm>
            <a:off x="874217" y="3906399"/>
            <a:ext cx="4590918" cy="97879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18B5B6AC-667A-F50A-407D-BFB9C2F5FDA7}"/>
              </a:ext>
            </a:extLst>
          </p:cNvPr>
          <p:cNvPicPr>
            <a:picLocks noChangeAspect="1"/>
          </p:cNvPicPr>
          <p:nvPr/>
        </p:nvPicPr>
        <p:blipFill>
          <a:blip r:embed="rId5"/>
          <a:stretch>
            <a:fillRect/>
          </a:stretch>
        </p:blipFill>
        <p:spPr>
          <a:xfrm>
            <a:off x="757260" y="5289211"/>
            <a:ext cx="4939961" cy="769886"/>
          </a:xfrm>
          <a:prstGeom prst="rect">
            <a:avLst/>
          </a:prstGeom>
        </p:spPr>
      </p:pic>
    </p:spTree>
    <p:extLst>
      <p:ext uri="{BB962C8B-B14F-4D97-AF65-F5344CB8AC3E}">
        <p14:creationId xmlns:p14="http://schemas.microsoft.com/office/powerpoint/2010/main" val="1898221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3FC62-9844-E7F3-CDF5-E489FD1DBD4D}"/>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55A8E748-63D6-FBD7-DC2D-A5AA49BB1024}"/>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5514493-E9AE-4E38-585D-7E5EAE988DC5}"/>
              </a:ext>
            </a:extLst>
          </p:cNvPr>
          <p:cNvSpPr txBox="1"/>
          <p:nvPr/>
        </p:nvSpPr>
        <p:spPr>
          <a:xfrm>
            <a:off x="7495952" y="2340619"/>
            <a:ext cx="3721397" cy="2960875"/>
          </a:xfrm>
          <a:prstGeom prst="rect">
            <a:avLst/>
          </a:prstGeom>
          <a:noFill/>
        </p:spPr>
        <p:txBody>
          <a:bodyPr wrap="square">
            <a:spAutoFit/>
          </a:bodyPr>
          <a:lstStyle/>
          <a:p>
            <a:pPr marL="0" marR="0" algn="just">
              <a:lnSpc>
                <a:spcPct val="15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deeper dive into the events of the rejection, a total of 3388 patients were rejected with no reason attached, which could be a result of lack of admission capacity while some others were rejected because of lack of donation, flu, and strike. </a:t>
            </a:r>
          </a:p>
        </p:txBody>
      </p:sp>
      <p:pic>
        <p:nvPicPr>
          <p:cNvPr id="7" name="Picture 6" descr="A graph of a bar chart&#10;&#10;AI-generated content may be incorrect.">
            <a:extLst>
              <a:ext uri="{FF2B5EF4-FFF2-40B4-BE49-F238E27FC236}">
                <a16:creationId xmlns:a16="http://schemas.microsoft.com/office/drawing/2014/main" id="{3745D32E-A795-75C4-26B5-546393A3106E}"/>
              </a:ext>
            </a:extLst>
          </p:cNvPr>
          <p:cNvPicPr>
            <a:picLocks noChangeAspect="1"/>
          </p:cNvPicPr>
          <p:nvPr/>
        </p:nvPicPr>
        <p:blipFill>
          <a:blip r:embed="rId2"/>
          <a:stretch>
            <a:fillRect/>
          </a:stretch>
        </p:blipFill>
        <p:spPr>
          <a:xfrm>
            <a:off x="472315" y="1971914"/>
            <a:ext cx="7098065" cy="4194970"/>
          </a:xfrm>
          <a:prstGeom prst="rect">
            <a:avLst/>
          </a:prstGeom>
        </p:spPr>
      </p:pic>
    </p:spTree>
    <p:extLst>
      <p:ext uri="{BB962C8B-B14F-4D97-AF65-F5344CB8AC3E}">
        <p14:creationId xmlns:p14="http://schemas.microsoft.com/office/powerpoint/2010/main" val="757120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A6BF-7BDC-AE26-A6F2-AEBF7BB064E2}"/>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C7DB5975-4CC6-90E3-92F0-62A202A83E7F}"/>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AD0306C-6455-E11F-2390-C6A299904F92}"/>
              </a:ext>
            </a:extLst>
          </p:cNvPr>
          <p:cNvSpPr txBox="1"/>
          <p:nvPr/>
        </p:nvSpPr>
        <p:spPr>
          <a:xfrm>
            <a:off x="6558518" y="1775637"/>
            <a:ext cx="4807687" cy="4449744"/>
          </a:xfrm>
          <a:prstGeom prst="rect">
            <a:avLst/>
          </a:prstGeom>
          <a:noFill/>
        </p:spPr>
        <p:txBody>
          <a:bodyPr wrap="square">
            <a:spAutoFit/>
          </a:bodyPr>
          <a:lstStyle/>
          <a:p>
            <a:pPr marL="0" marR="0" algn="just">
              <a:lnSpc>
                <a:spcPct val="20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ICU department has 34 staff, received 789 requests, admitted 648 and rejected only 141. The General Medicine department has 28 staff, received 4270 admission requests, admitted 2332 and rejected 1938. The Surgery department received a total of 2241 admission requests, rejected 555 and admitted 1686 patients.</a:t>
            </a:r>
          </a:p>
        </p:txBody>
      </p:sp>
      <p:pic>
        <p:nvPicPr>
          <p:cNvPr id="6" name="Picture 5" descr="A screenshot of a computer screen&#10;&#10;AI-generated content may be incorrect.">
            <a:extLst>
              <a:ext uri="{FF2B5EF4-FFF2-40B4-BE49-F238E27FC236}">
                <a16:creationId xmlns:a16="http://schemas.microsoft.com/office/drawing/2014/main" id="{B047B720-8142-8BAC-AF5D-9D773E7CC10D}"/>
              </a:ext>
            </a:extLst>
          </p:cNvPr>
          <p:cNvPicPr>
            <a:picLocks noChangeAspect="1"/>
          </p:cNvPicPr>
          <p:nvPr/>
        </p:nvPicPr>
        <p:blipFill>
          <a:blip r:embed="rId2"/>
          <a:stretch>
            <a:fillRect/>
          </a:stretch>
        </p:blipFill>
        <p:spPr>
          <a:xfrm>
            <a:off x="1266680" y="1910649"/>
            <a:ext cx="3979990" cy="1980867"/>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114FF07E-759F-28CB-73D8-6E5D3C751266}"/>
              </a:ext>
            </a:extLst>
          </p:cNvPr>
          <p:cNvPicPr>
            <a:picLocks noChangeAspect="1"/>
          </p:cNvPicPr>
          <p:nvPr/>
        </p:nvPicPr>
        <p:blipFill>
          <a:blip r:embed="rId3"/>
          <a:stretch>
            <a:fillRect/>
          </a:stretch>
        </p:blipFill>
        <p:spPr>
          <a:xfrm>
            <a:off x="1266680" y="4122221"/>
            <a:ext cx="3979990" cy="1980867"/>
          </a:xfrm>
          <a:prstGeom prst="rect">
            <a:avLst/>
          </a:prstGeom>
        </p:spPr>
      </p:pic>
    </p:spTree>
    <p:extLst>
      <p:ext uri="{BB962C8B-B14F-4D97-AF65-F5344CB8AC3E}">
        <p14:creationId xmlns:p14="http://schemas.microsoft.com/office/powerpoint/2010/main" val="2181841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BA0A-1739-CD7F-330C-9368B9848D4A}"/>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B0A164B0-04D5-5391-E41B-DD2FC3720671}"/>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2941D68-2AA6-AFC8-3B2D-C0EA50C72006}"/>
              </a:ext>
            </a:extLst>
          </p:cNvPr>
          <p:cNvSpPr txBox="1"/>
          <p:nvPr/>
        </p:nvSpPr>
        <p:spPr>
          <a:xfrm>
            <a:off x="6422066" y="1679944"/>
            <a:ext cx="4710224" cy="3895746"/>
          </a:xfrm>
          <a:prstGeom prst="rect">
            <a:avLst/>
          </a:prstGeom>
          <a:noFill/>
        </p:spPr>
        <p:txBody>
          <a:bodyPr wrap="square">
            <a:spAutoFit/>
          </a:bodyPr>
          <a:lstStyle/>
          <a:p>
            <a:pPr marL="0" marR="0" algn="just">
              <a:lnSpc>
                <a:spcPct val="20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morale of staff across services ranged from 71 to 74, which falls within a moderate band, indicating a need to implement targeted staff engagement and workload management strategies to prevent morale decline, particularly in services experiencing high patient demand and operational pressure.</a:t>
            </a:r>
          </a:p>
        </p:txBody>
      </p:sp>
      <p:pic>
        <p:nvPicPr>
          <p:cNvPr id="7" name="Picture 6" descr="A screenshot of a computer&#10;&#10;AI-generated content may be incorrect.">
            <a:extLst>
              <a:ext uri="{FF2B5EF4-FFF2-40B4-BE49-F238E27FC236}">
                <a16:creationId xmlns:a16="http://schemas.microsoft.com/office/drawing/2014/main" id="{8F87A151-C04B-9C07-B21C-472E1F24C0E9}"/>
              </a:ext>
            </a:extLst>
          </p:cNvPr>
          <p:cNvPicPr>
            <a:picLocks noChangeAspect="1"/>
          </p:cNvPicPr>
          <p:nvPr/>
        </p:nvPicPr>
        <p:blipFill>
          <a:blip r:embed="rId2"/>
          <a:stretch>
            <a:fillRect/>
          </a:stretch>
        </p:blipFill>
        <p:spPr>
          <a:xfrm>
            <a:off x="1200781" y="2708092"/>
            <a:ext cx="4569154" cy="1895806"/>
          </a:xfrm>
          <a:prstGeom prst="rect">
            <a:avLst/>
          </a:prstGeom>
        </p:spPr>
      </p:pic>
    </p:spTree>
    <p:extLst>
      <p:ext uri="{BB962C8B-B14F-4D97-AF65-F5344CB8AC3E}">
        <p14:creationId xmlns:p14="http://schemas.microsoft.com/office/powerpoint/2010/main" val="296448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B8DB-8DFE-1109-0BDC-FCDCFA43D24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127AD8D-C670-526B-D2B7-AD5D9A15E17B}"/>
              </a:ext>
            </a:extLst>
          </p:cNvPr>
          <p:cNvSpPr txBox="1"/>
          <p:nvPr/>
        </p:nvSpPr>
        <p:spPr>
          <a:xfrm>
            <a:off x="3865822" y="1183846"/>
            <a:ext cx="4807687" cy="496098"/>
          </a:xfrm>
          <a:prstGeom prst="rect">
            <a:avLst/>
          </a:prstGeom>
          <a:noFill/>
        </p:spPr>
        <p:txBody>
          <a:bodyPr wrap="square">
            <a:spAutoFit/>
          </a:bodyPr>
          <a:lstStyle/>
          <a:p>
            <a:pPr marL="0" marR="0" algn="just">
              <a:lnSpc>
                <a:spcPct val="115000"/>
              </a:lnSpc>
              <a:spcAft>
                <a:spcPts val="800"/>
              </a:spcAf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Key Insights (Staff and Services)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DAD32AF-2E52-D95C-AC51-487222DF8289}"/>
              </a:ext>
            </a:extLst>
          </p:cNvPr>
          <p:cNvSpPr txBox="1"/>
          <p:nvPr/>
        </p:nvSpPr>
        <p:spPr>
          <a:xfrm>
            <a:off x="7073751" y="3297732"/>
            <a:ext cx="4629151" cy="1679755"/>
          </a:xfrm>
          <a:prstGeom prst="rect">
            <a:avLst/>
          </a:prstGeom>
          <a:noFill/>
        </p:spPr>
        <p:txBody>
          <a:bodyPr wrap="square">
            <a:spAutoFit/>
          </a:bodyPr>
          <a:lstStyle/>
          <a:p>
            <a:pPr marL="0" marR="0" algn="just">
              <a:lnSpc>
                <a:spcPct val="20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60% attendance rate further showed that March (44%), June (46%), and September (44%) had the lowest attendance rate. </a:t>
            </a:r>
          </a:p>
        </p:txBody>
      </p:sp>
      <p:pic>
        <p:nvPicPr>
          <p:cNvPr id="6" name="Picture 5" descr="A graph on a white background&#10;&#10;AI-generated content may be incorrect.">
            <a:extLst>
              <a:ext uri="{FF2B5EF4-FFF2-40B4-BE49-F238E27FC236}">
                <a16:creationId xmlns:a16="http://schemas.microsoft.com/office/drawing/2014/main" id="{5EA3AF63-7676-DE29-E2DF-00AE9FB52370}"/>
              </a:ext>
            </a:extLst>
          </p:cNvPr>
          <p:cNvPicPr>
            <a:picLocks noChangeAspect="1"/>
          </p:cNvPicPr>
          <p:nvPr/>
        </p:nvPicPr>
        <p:blipFill>
          <a:blip r:embed="rId2"/>
          <a:stretch>
            <a:fillRect/>
          </a:stretch>
        </p:blipFill>
        <p:spPr>
          <a:xfrm>
            <a:off x="1065541" y="2268924"/>
            <a:ext cx="5600561" cy="2057617"/>
          </a:xfrm>
          <a:prstGeom prst="rect">
            <a:avLst/>
          </a:prstGeom>
        </p:spPr>
      </p:pic>
      <p:pic>
        <p:nvPicPr>
          <p:cNvPr id="9" name="Picture 8" descr="A close-up of a sign&#10;&#10;AI-generated content may be incorrect.">
            <a:extLst>
              <a:ext uri="{FF2B5EF4-FFF2-40B4-BE49-F238E27FC236}">
                <a16:creationId xmlns:a16="http://schemas.microsoft.com/office/drawing/2014/main" id="{96A3597F-DDB9-BDBC-C981-0A6FB44188BC}"/>
              </a:ext>
            </a:extLst>
          </p:cNvPr>
          <p:cNvPicPr>
            <a:picLocks noChangeAspect="1"/>
          </p:cNvPicPr>
          <p:nvPr/>
        </p:nvPicPr>
        <p:blipFill>
          <a:blip r:embed="rId3"/>
          <a:stretch>
            <a:fillRect/>
          </a:stretch>
        </p:blipFill>
        <p:spPr>
          <a:xfrm>
            <a:off x="1065541" y="4765734"/>
            <a:ext cx="2484071" cy="1036011"/>
          </a:xfrm>
          <a:prstGeom prst="rect">
            <a:avLst/>
          </a:prstGeom>
        </p:spPr>
      </p:pic>
    </p:spTree>
    <p:extLst>
      <p:ext uri="{BB962C8B-B14F-4D97-AF65-F5344CB8AC3E}">
        <p14:creationId xmlns:p14="http://schemas.microsoft.com/office/powerpoint/2010/main" val="2333264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73560D-1F50-4A1E-2DB3-DDEAE7E57799}"/>
              </a:ext>
            </a:extLst>
          </p:cNvPr>
          <p:cNvSpPr txBox="1"/>
          <p:nvPr/>
        </p:nvSpPr>
        <p:spPr>
          <a:xfrm>
            <a:off x="1017870" y="1178826"/>
            <a:ext cx="3573379" cy="496098"/>
          </a:xfrm>
          <a:prstGeom prst="rect">
            <a:avLst/>
          </a:prstGeom>
          <a:noFill/>
        </p:spPr>
        <p:txBody>
          <a:bodyPr wrap="square">
            <a:spAutoFit/>
          </a:bodyPr>
          <a:lstStyle/>
          <a:p>
            <a:pPr marL="0" marR="0" algn="just">
              <a:lnSpc>
                <a:spcPct val="115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Recommendations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BD579CD-BCD5-8CFA-9E99-D0BE795255C7}"/>
              </a:ext>
            </a:extLst>
          </p:cNvPr>
          <p:cNvSpPr txBox="1"/>
          <p:nvPr/>
        </p:nvSpPr>
        <p:spPr>
          <a:xfrm>
            <a:off x="773075" y="2097369"/>
            <a:ext cx="10645849" cy="3843873"/>
          </a:xfrm>
          <a:prstGeom prst="rect">
            <a:avLst/>
          </a:prstGeom>
          <a:noFill/>
        </p:spPr>
        <p:txBody>
          <a:bodyPr wrap="square">
            <a:spAutoFit/>
          </a:bodyPr>
          <a:lstStyle/>
          <a:p>
            <a:pPr marL="342900" marR="0" lvl="0" indent="-342900" algn="just">
              <a:lnSpc>
                <a:spcPct val="150000"/>
              </a:lnSpc>
              <a:buFont typeface="+mj-lt"/>
              <a:buAutoNum type="arabicPeriod"/>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Increase the hospital capacity and staffing by expanding bed availability and recruiting additional staff in high-demand departments to reduce patient rejections. </a:t>
            </a:r>
          </a:p>
          <a:p>
            <a:pPr marL="342900" marR="0" lvl="0" indent="-342900" algn="just">
              <a:lnSpc>
                <a:spcPct val="150000"/>
              </a:lnSpc>
              <a:buFont typeface="+mj-lt"/>
              <a:buAutoNum type="arabicPeriod"/>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Introduce attendance incentives</a:t>
            </a:r>
            <a:r>
              <a:rPr lang="en-US" sz="2000" kern="100" dirty="0">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to maintain staff morale and prevent burnout. </a:t>
            </a:r>
          </a:p>
          <a:p>
            <a:pPr marL="342900" marR="0" lvl="0" indent="-342900" algn="just">
              <a:lnSpc>
                <a:spcPct val="150000"/>
              </a:lnSpc>
              <a:buFont typeface="+mj-lt"/>
              <a:buAutoNum type="arabicPeriod"/>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Focus on reducing patients’ dissatisfaction by maintaining consistent care quality. </a:t>
            </a:r>
          </a:p>
          <a:p>
            <a:pPr marL="342900" marR="0" lvl="0" indent="-342900" algn="just">
              <a:lnSpc>
                <a:spcPct val="150000"/>
              </a:lnSpc>
              <a:spcAft>
                <a:spcPts val="800"/>
              </a:spcAft>
              <a:buFont typeface="+mj-lt"/>
              <a:buAutoNum type="arabicPeriod"/>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Monitor staff performance, patients flow, and bed occupancy in real-time to proactively attend to these challenges, prevent capacity shortages and optimize resource allocation. </a:t>
            </a:r>
          </a:p>
          <a:p>
            <a:pPr marL="342900" marR="0" lvl="0" indent="-342900" algn="just">
              <a:lnSpc>
                <a:spcPct val="150000"/>
              </a:lnSpc>
              <a:spcAft>
                <a:spcPts val="800"/>
              </a:spcAft>
              <a:buFont typeface="+mj-lt"/>
              <a:buAutoNum type="arabicPeriod"/>
              <a:tabLst>
                <a:tab pos="457200" algn="l"/>
              </a:tabLst>
            </a:pPr>
            <a:r>
              <a:rPr lang="en-US" sz="2000" kern="100" dirty="0">
                <a:latin typeface="Aptos" panose="020B0004020202020204" pitchFamily="34" charset="0"/>
                <a:ea typeface="Aptos" panose="020B0004020202020204" pitchFamily="34" charset="0"/>
                <a:cs typeface="Times New Roman" panose="02020603050405020304" pitchFamily="18" charset="0"/>
              </a:rPr>
              <a:t>A further dive into low staff attendance rate in March, June, and September especially should be further looked into.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44022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04ACFD-9A33-E124-A18F-F33CFF4B6605}"/>
              </a:ext>
            </a:extLst>
          </p:cNvPr>
          <p:cNvSpPr txBox="1"/>
          <p:nvPr/>
        </p:nvSpPr>
        <p:spPr>
          <a:xfrm>
            <a:off x="1017870" y="1178826"/>
            <a:ext cx="1792707" cy="496098"/>
          </a:xfrm>
          <a:prstGeom prst="rect">
            <a:avLst/>
          </a:prstGeom>
          <a:noFill/>
        </p:spPr>
        <p:txBody>
          <a:bodyPr wrap="square">
            <a:spAutoFit/>
          </a:bodyPr>
          <a:lstStyle/>
          <a:p>
            <a:pPr marL="0" marR="0" algn="just">
              <a:lnSpc>
                <a:spcPct val="115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Conclusion</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39C07A8-316C-A0D2-69E8-97B0A04DB0EF}"/>
              </a:ext>
            </a:extLst>
          </p:cNvPr>
          <p:cNvSpPr txBox="1"/>
          <p:nvPr/>
        </p:nvSpPr>
        <p:spPr>
          <a:xfrm>
            <a:off x="1081420" y="2000392"/>
            <a:ext cx="10029160" cy="3895746"/>
          </a:xfrm>
          <a:prstGeom prst="rect">
            <a:avLst/>
          </a:prstGeom>
          <a:noFill/>
        </p:spPr>
        <p:txBody>
          <a:bodyPr wrap="square">
            <a:spAutoFit/>
          </a:bodyPr>
          <a:lstStyle/>
          <a:p>
            <a:pPr marL="0" marR="0" algn="just">
              <a:lnSpc>
                <a:spcPct val="200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analysis provides visibility into patient demand, service utilization, and workforce performance across all services provided at Merit hospital. While several services demonstrate effective admission handling and stable staff attendance, periods of high demand, elevated refusals, and fluctuating staff morale reveal operational pressure points. By improving capacity alignment, strengthening staffing presence during peak periods, and closely monitoring staff morale along</a:t>
            </a:r>
            <a:r>
              <a:rPr lang="en-US" kern="100" dirty="0">
                <a:latin typeface="Aptos" panose="020B0004020202020204" pitchFamily="34" charset="0"/>
                <a:ea typeface="Aptos" panose="020B0004020202020204" pitchFamily="34" charset="0"/>
                <a:cs typeface="Times New Roman" panose="02020603050405020304" pitchFamily="18" charset="0"/>
              </a:rPr>
              <a:t> with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performance metrics, hospital management can convert existing operational effort into more efficient, patient-centered service delivery.</a:t>
            </a:r>
          </a:p>
        </p:txBody>
      </p:sp>
    </p:spTree>
    <p:extLst>
      <p:ext uri="{BB962C8B-B14F-4D97-AF65-F5344CB8AC3E}">
        <p14:creationId xmlns:p14="http://schemas.microsoft.com/office/powerpoint/2010/main" val="623202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183CDC-9F6A-34F5-926A-3EAE0E6D8B28}"/>
              </a:ext>
            </a:extLst>
          </p:cNvPr>
          <p:cNvSpPr txBox="1"/>
          <p:nvPr/>
        </p:nvSpPr>
        <p:spPr>
          <a:xfrm>
            <a:off x="4260801" y="2837505"/>
            <a:ext cx="2852381" cy="698012"/>
          </a:xfrm>
          <a:prstGeom prst="rect">
            <a:avLst/>
          </a:prstGeom>
          <a:noFill/>
        </p:spPr>
        <p:txBody>
          <a:bodyPr wrap="square">
            <a:spAutoFit/>
          </a:bodyPr>
          <a:lstStyle/>
          <a:p>
            <a:pPr marL="0" marR="0" algn="just">
              <a:lnSpc>
                <a:spcPct val="115000"/>
              </a:lnSpc>
              <a:spcAft>
                <a:spcPts val="800"/>
              </a:spcAft>
              <a:buNone/>
            </a:pPr>
            <a:r>
              <a:rPr lang="en-US" sz="3600" b="1" kern="100" dirty="0">
                <a:effectLst/>
                <a:latin typeface="Aptos" panose="020B0004020202020204" pitchFamily="34" charset="0"/>
                <a:ea typeface="Aptos" panose="020B0004020202020204" pitchFamily="34" charset="0"/>
                <a:cs typeface="Times New Roman" panose="02020603050405020304" pitchFamily="18" charset="0"/>
              </a:rPr>
              <a:t>THANK YOU </a:t>
            </a:r>
            <a:endParaRPr lang="en-US"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6875994"/>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Retrospect</Template>
  <TotalTime>3113</TotalTime>
  <Words>1392</Words>
  <Application>Microsoft Office PowerPoint</Application>
  <PresentationFormat>Widescreen</PresentationFormat>
  <Paragraphs>77</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Arial</vt:lpstr>
      <vt:lpstr>Arial Black</vt:lpstr>
      <vt:lpstr>Baguet Script</vt:lpstr>
      <vt:lpstr>Calibri</vt:lpstr>
      <vt:lpstr>Calibri Light</vt:lpstr>
      <vt:lpstr>Symbol</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monsurat surajudeen</dc:creator>
  <cp:lastModifiedBy>monsurat surajudeen</cp:lastModifiedBy>
  <cp:revision>140</cp:revision>
  <dcterms:created xsi:type="dcterms:W3CDTF">2025-07-05T22:08:43Z</dcterms:created>
  <dcterms:modified xsi:type="dcterms:W3CDTF">2025-12-17T21:21:23Z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2025-07-06T22:51:35Z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799b848d-ccfa-4e7e-a733-65008075adca</vt:lpwstr>
  </property>
  <property fmtid="{D5CDD505-2E9C-101B-9397-08002B2CF9AE}" pid="7" name="MSIP_Label_defa4170-0d19-0005-0004-bc88714345d2_ActionId">
    <vt:lpwstr>ed21b9ff-9f46-4e59-bf21-7a457a980150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